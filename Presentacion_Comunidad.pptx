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4">
          <p15:clr>
            <a:srgbClr val="747775"/>
          </p15:clr>
        </p15:guide>
        <p15:guide id="2" pos="283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4" orient="horz"/>
        <p:guide pos="283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8c2e1712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8c2e1712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8c2e1712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8c2e1712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bb9da4c5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bb9da4c5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bb9da4c5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bb9da4c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bb9da4c5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bb9da4c5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8c2e17126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8c2e17126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bb9da4c5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bb9da4c5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8c2e1712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8c2e1712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8c2e1712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8c2e1712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8c2e1712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8c2e1712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8c2e1712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8c2e1712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bc45d76b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bc45d76b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de Comunidad de Propietarios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686649"/>
            <a:ext cx="8222100" cy="16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M07 - UF4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Aplicación web para gestión de comunidades de propietarios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Fernando Diaz y Mouad Sedjari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05/2025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¿Qué hace la aplicación?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300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500" y="1281625"/>
            <a:ext cx="6989000" cy="25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Funcionalidades Principales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✅ 📁</a:t>
            </a:r>
            <a:r>
              <a:rPr lang="es"/>
              <a:t> Carga y validación de archivos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✅ ⚙️Procesamiento automático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✅ ➗Cálculo de cuotas (proporcional e igualitario)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✅ 👀 Visualización clara de información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Datos gestionados</a:t>
            </a:r>
            <a:endParaRPr b="1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/>
              <a:t>🏘️ Información de la comunidad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/>
              <a:t>🏠 Propiedades y sus características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/>
              <a:t>👤 Propietarios y sus datos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/>
              <a:t>🗺️ Zonas y tipos de reparto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/>
              <a:t>💸 Gastos y cuotas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Arquitectura del Proyecto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079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Tecnologías Utilizadas: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🖥️ </a:t>
            </a:r>
            <a:r>
              <a:rPr b="1" lang="es" sz="1600"/>
              <a:t>Backend:</a:t>
            </a:r>
            <a:r>
              <a:rPr lang="es" sz="1600"/>
              <a:t> Java 21 + Spring Boot 3.4.5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🎨 </a:t>
            </a:r>
            <a:r>
              <a:rPr b="1" lang="es" sz="1600"/>
              <a:t>Frontend: </a:t>
            </a:r>
            <a:r>
              <a:rPr lang="es" sz="1600"/>
              <a:t>Thymeleaf + Bootstrap 5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📦 </a:t>
            </a:r>
            <a:r>
              <a:rPr b="1" lang="es" sz="1600"/>
              <a:t>Dependencias: </a:t>
            </a:r>
            <a:r>
              <a:rPr lang="es" sz="1600"/>
              <a:t>Maven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🛠️ </a:t>
            </a:r>
            <a:r>
              <a:rPr b="1" lang="es" sz="1600"/>
              <a:t>Dev Tools:</a:t>
            </a:r>
            <a:r>
              <a:rPr lang="es" sz="1600"/>
              <a:t> Lombok, Spring DevTools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5550" y="1342500"/>
            <a:ext cx="456475" cy="4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075" y="1342525"/>
            <a:ext cx="456475" cy="4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3075" y="2068487"/>
            <a:ext cx="456474" cy="45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86575" y="2068459"/>
            <a:ext cx="554435" cy="4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5350" y="2742300"/>
            <a:ext cx="1068232" cy="2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7787" y="3121500"/>
            <a:ext cx="663350" cy="6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8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8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8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8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8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8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Estructura MVC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8" title="Vision_Mission_Venn_Diagram__2_-removebg-preview.png"/>
          <p:cNvPicPr preferRelativeResize="0"/>
          <p:nvPr/>
        </p:nvPicPr>
        <p:blipFill rotWithShape="1">
          <a:blip r:embed="rId3">
            <a:alphaModFix/>
          </a:blip>
          <a:srcRect b="0" l="130" r="120" t="0"/>
          <a:stretch/>
        </p:blipFill>
        <p:spPr>
          <a:xfrm>
            <a:off x="1080450" y="920825"/>
            <a:ext cx="6280262" cy="3820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8"/>
          <p:cNvGrpSpPr/>
          <p:nvPr/>
        </p:nvGrpSpPr>
        <p:grpSpPr>
          <a:xfrm>
            <a:off x="1596525" y="2139200"/>
            <a:ext cx="5363850" cy="1830375"/>
            <a:chOff x="1596525" y="2139200"/>
            <a:chExt cx="5363850" cy="1830375"/>
          </a:xfrm>
        </p:grpSpPr>
        <p:sp>
          <p:nvSpPr>
            <p:cNvPr id="125" name="Google Shape;125;p18"/>
            <p:cNvSpPr txBox="1"/>
            <p:nvPr/>
          </p:nvSpPr>
          <p:spPr>
            <a:xfrm>
              <a:off x="4970475" y="2212425"/>
              <a:ext cx="19899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VISTA</a:t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Plantillas Thymeleaf 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(HTML + Bootstrap)</a:t>
              </a:r>
              <a:r>
                <a:rPr lang="es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1596525" y="2139200"/>
              <a:ext cx="1848000" cy="174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F06292"/>
                  </a:solidFill>
                  <a:latin typeface="Roboto"/>
                  <a:ea typeface="Roboto"/>
                  <a:cs typeface="Roboto"/>
                  <a:sym typeface="Roboto"/>
                </a:rPr>
                <a:t>MODELO</a:t>
              </a:r>
              <a:endParaRPr b="1" sz="1800">
                <a:solidFill>
                  <a:srgbClr val="F0629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Roboto"/>
                <a:buChar char="●"/>
              </a:pPr>
              <a:r>
                <a:rPr lang="es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Comunidad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Roboto"/>
                <a:buChar char="●"/>
              </a:pPr>
              <a:r>
                <a:rPr lang="es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Propiedad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Roboto"/>
                <a:buChar char="●"/>
              </a:pPr>
              <a:r>
                <a:rPr lang="es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Propietario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Roboto"/>
                <a:buChar char="○"/>
              </a:pPr>
              <a:r>
                <a:rPr lang="es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Zona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Roboto"/>
                <a:buChar char="○"/>
              </a:pPr>
              <a:r>
                <a:rPr lang="es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Gasto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</a:t>
              </a:r>
              <a:r>
                <a:rPr lang="es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3515500" y="2228675"/>
              <a:ext cx="1419600" cy="174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CONTROLADOR</a:t>
              </a:r>
              <a:endParaRPr b="1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F06292"/>
                  </a:solidFill>
                  <a:latin typeface="Roboto"/>
                  <a:ea typeface="Roboto"/>
                  <a:cs typeface="Roboto"/>
                  <a:sym typeface="Roboto"/>
                </a:rPr>
                <a:t>Gestión</a:t>
              </a:r>
              <a:r>
                <a:rPr lang="es" sz="1300">
                  <a:solidFill>
                    <a:srgbClr val="F06292"/>
                  </a:solidFill>
                  <a:latin typeface="Roboto"/>
                  <a:ea typeface="Roboto"/>
                  <a:cs typeface="Roboto"/>
                  <a:sym typeface="Roboto"/>
                </a:rPr>
                <a:t> de lógica </a:t>
              </a:r>
              <a:r>
                <a:rPr lang="es" sz="1300">
                  <a:solidFill>
                    <a:srgbClr val="F06292"/>
                  </a:solidFill>
                  <a:latin typeface="Roboto"/>
                  <a:ea typeface="Roboto"/>
                  <a:cs typeface="Roboto"/>
                  <a:sym typeface="Roboto"/>
                </a:rPr>
                <a:t>petición</a:t>
              </a:r>
              <a:r>
                <a:rPr lang="es" sz="1300">
                  <a:solidFill>
                    <a:srgbClr val="F06292"/>
                  </a:solidFill>
                  <a:latin typeface="Roboto"/>
                  <a:ea typeface="Roboto"/>
                  <a:cs typeface="Roboto"/>
                  <a:sym typeface="Roboto"/>
                </a:rPr>
                <a:t> HTTP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202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Clases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00" y="810550"/>
            <a:ext cx="8019001" cy="3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202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Gestión de Archivos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242600" y="1126500"/>
            <a:ext cx="72270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Carga de Archivos:</a:t>
            </a:r>
            <a:endParaRPr sz="20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242600" y="3308725"/>
            <a:ext cx="3511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3 - Procesamiento automático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311700" y="1881113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1 - Archivo de Comunidad y de Gastos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5029700" y="229537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2 - Validaciones: Formato, contenido y relaciones</a:t>
            </a:r>
            <a:endParaRPr/>
          </a:p>
        </p:txBody>
      </p:sp>
      <p:cxnSp>
        <p:nvCxnSpPr>
          <p:cNvPr id="143" name="Google Shape;143;p20"/>
          <p:cNvCxnSpPr/>
          <p:nvPr/>
        </p:nvCxnSpPr>
        <p:spPr>
          <a:xfrm>
            <a:off x="3253150" y="2132125"/>
            <a:ext cx="1764600" cy="32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0"/>
          <p:cNvCxnSpPr/>
          <p:nvPr/>
        </p:nvCxnSpPr>
        <p:spPr>
          <a:xfrm flipH="1">
            <a:off x="3458300" y="2901925"/>
            <a:ext cx="1575000" cy="6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Componentes Clave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📁 </a:t>
            </a:r>
            <a:r>
              <a:rPr b="1" lang="es"/>
              <a:t>File Parser: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📂 Procesa archivos de entrada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✅ Válida secciones y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Calculadora Cuotas: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📐 Aplica reglas de reparto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💰 Calcula cuotas y totales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Interfaz de Usuario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🌐 Página Web: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🏠  Inicio:</a:t>
            </a:r>
            <a:r>
              <a:rPr lang="es" sz="1600"/>
              <a:t> Formulario de carga + validación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📊 Resumen:</a:t>
            </a:r>
            <a:r>
              <a:rPr lang="es" sz="1600"/>
              <a:t> Totales por zona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👥 </a:t>
            </a:r>
            <a:r>
              <a:rPr b="1" lang="es" sz="1600"/>
              <a:t>Propietarios: </a:t>
            </a:r>
            <a:r>
              <a:rPr lang="es" sz="1600"/>
              <a:t>Detalles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🏘️ Propiedades:</a:t>
            </a:r>
            <a:r>
              <a:rPr lang="es" sz="1600"/>
              <a:t> Detalles + porcentajes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/>
              <a:t>💳 Cuotas: </a:t>
            </a:r>
            <a:r>
              <a:rPr lang="es" sz="1600"/>
              <a:t>Desglose por propiedad y propietario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375" y="805650"/>
            <a:ext cx="3260500" cy="2977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22"/>
          <p:cNvCxnSpPr>
            <a:endCxn id="157" idx="1"/>
          </p:cNvCxnSpPr>
          <p:nvPr/>
        </p:nvCxnSpPr>
        <p:spPr>
          <a:xfrm flipH="1" rot="10800000">
            <a:off x="3348475" y="2294225"/>
            <a:ext cx="1926900" cy="7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Dificultades y soluciones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464100" y="13823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⚠️ Dificultades: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📂 Procesamiento de archivos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➗ Cálculos complejos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✅ Validación de datos</a:t>
            </a:r>
            <a:endParaRPr/>
          </a:p>
        </p:txBody>
      </p:sp>
      <p:sp>
        <p:nvSpPr>
          <p:cNvPr id="165" name="Google Shape;165;p23"/>
          <p:cNvSpPr txBox="1"/>
          <p:nvPr>
            <p:ph idx="4294967295" type="body"/>
          </p:nvPr>
        </p:nvSpPr>
        <p:spPr>
          <a:xfrm>
            <a:off x="4984800" y="13823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✅ Soluciones: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🛠️ Implementación de </a:t>
            </a:r>
            <a:r>
              <a:rPr lang="es"/>
              <a:t>File Parser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📐 Estrategias de reparto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🧯 Manejo de excepciones</a:t>
            </a:r>
            <a:endParaRPr/>
          </a:p>
        </p:txBody>
      </p:sp>
      <p:cxnSp>
        <p:nvCxnSpPr>
          <p:cNvPr id="166" name="Google Shape;166;p23"/>
          <p:cNvCxnSpPr/>
          <p:nvPr/>
        </p:nvCxnSpPr>
        <p:spPr>
          <a:xfrm>
            <a:off x="2996450" y="2571750"/>
            <a:ext cx="187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3767175" y="2084150"/>
            <a:ext cx="11133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2988575" y="3020025"/>
            <a:ext cx="18876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Mejoras Futuras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📄 Exportación a 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🕘 Historial de cargas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🏘️ Soporte para múltiples comunidades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🛠️ Panel de administración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🔗 API REST para integraciones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💾 Persistencia en base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Conclusión</a:t>
            </a:r>
            <a:endParaRPr b="1"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📌  Este proyecto demuestra: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🧱 Aplicación de la arquitectura MVC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🗂️ Gestión efectiva de archivos estructurados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🤖 Cálculos automáticos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🖥️ Interfaz clara y amigable para el usuario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 txBox="1"/>
          <p:nvPr>
            <p:ph idx="4294967295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👤 </a:t>
            </a:r>
            <a:r>
              <a:rPr b="1" lang="es"/>
              <a:t>Personal: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✅ Realizar una </a:t>
            </a:r>
            <a:r>
              <a:rPr lang="es"/>
              <a:t>práctica</a:t>
            </a:r>
            <a:r>
              <a:rPr lang="es"/>
              <a:t> más acorde al mundo real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❌ La parte de negocio relacionada con lo </a:t>
            </a:r>
            <a:r>
              <a:rPr lang="es"/>
              <a:t>económico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